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launch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Riyadh, 2026</a:t>
            </a:r>
          </a:p>
        </p:txBody>
      </p:sp>
      <p:sp>
        <p:nvSpPr>
          <p:cNvPr id="901" name="Freeform"/>
          <p:cNvSpPr/>
          <p:nvPr/>
        </p:nvSpPr>
        <p:spPr>
          <a:xfrm>
            <a:off x="635000" y="3810000"/>
            <a:ext cx="635000" cy="635000"/>
          </a:xfrm>
          <a:custGeom>
            <a:avLst/>
            <a:gdLst>
              <a:gd name="x1" fmla="*/ w 1 2"/>
              <a:gd name="y1" fmla="+- h 0 0"/>
            </a:gdLst>
            <a:ahLst/>
            <a:cxnLst/>
            <a:rect l="l" t="t" r="r" b="b"/>
            <a:pathLst>
              <a:path>
                <a:moveTo>
                  <a:pt x="l" y="y1"/>
                </a:moveTo>
                <a:lnTo>
                  <a:pt x="x1" y="t"/>
                </a:lnTo>
                <a:lnTo>
                  <a:pt x="r" y="b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902" name="Arc"/>
          <p:cNvSpPr/>
          <p:nvPr/>
        </p:nvSpPr>
        <p:spPr>
          <a:xfrm>
            <a:off x="2540000" y="3810000"/>
            <a:ext cx="1270000" cy="635000"/>
          </a:xfrm>
          <a:custGeom>
            <a:avLst/>
            <a:gdLst/>
            <a:ahLst/>
            <a:cxnLst/>
            <a:rect l="0" t="0" r="r" b="b"/>
            <a:pathLst>
              <a:path w="200" h="100" fill="none">
                <a:moveTo>
                  <a:pt x="0" y="50"/>
                </a:moveTo>
                <a:arcTo wR="100" hR="50" stAng="10800000" swAng="10800000"/>
              </a:path>
            </a:pathLst>
          </a:custGeom>
          <a:noFill/>
          <a:ln w="12700">
            <a:solidFill>
              <a:srgbClr val="000000"/>
            </a:solidFill>
          </a:ln>
        </p:spPr>
      </p:sp>
      <p:cxnSp>
        <p:nvCxnSpPr>
          <p:cNvPr id="903" name="Elbow"/>
          <p:cNvCxnSpPr/>
          <p:nvPr/>
        </p:nvCxnSpPr>
        <p:spPr>
          <a:xfrm>
            <a:off x="1270000" y="3810000"/>
            <a:ext cx="1270000" cy="635000"/>
          </a:xfrm>
          <a:prstGeom prst="bentConnector3">
            <a:avLst>
              <a:gd name="adj1" fmla="val 25000"/>
            </a:avLst>
          </a:prstGeom>
          <a:ln w="12700">
            <a:solidFill>
              <a:srgbClr val="00B050"/>
            </a:solidFill>
          </a:ln>
        </p:spPr>
      </p:cxnSp>
      <p:grpSp>
        <p:nvGrpSpPr>
          <p:cNvPr id="904" name="Icon"/>
          <p:cNvGrpSpPr/>
          <p:nvPr/>
        </p:nvGrpSpPr>
        <p:grpSpPr>
          <a:xfrm>
            <a:off x="5080000" y="3810000"/>
            <a:ext cx="635000" cy="635000"/>
            <a:chOff x="0" y="0"/>
            <a:chExt cx="635000" cy="635000"/>
          </a:xfrm>
          <a:solidFill>
            <a:srgbClr val="0070C0"/>
          </a:solidFill>
        </p:grpSpPr>
        <p:sp>
          <p:nvSpPr>
            <p:cNvPr id="905" name="Icon piece"/>
            <p:cNvSpPr/>
            <p:nvPr/>
          </p:nvSpPr>
          <p:spPr>
            <a:xfrm>
              <a:off x="0" y="0"/>
              <a:ext cx="635000" cy="635000"/>
            </a:xfrm>
            <a:prstGeom prst="ellipse">
              <a:avLst/>
            </a:prstGeom>
            <a:grpFill/>
            <a:ln>
              <a:noFill/>
            </a:ln>
          </p:spPr>
        </p:sp>
      </p:grpSp>
      <p:grpSp>
        <p:nvGrpSpPr>
          <p:cNvPr id="906" name="Grid" hidden="1"/>
          <p:cNvGrpSpPr/>
          <p:nvPr/>
        </p:nvGrpSpPr>
        <p:grpSpPr>
          <a:xfrm>
            <a:off x="5080000" y="3810000"/>
            <a:ext cx="635000" cy="635000"/>
            <a:chOff x="0" y="0"/>
            <a:chExt cx="635000" cy="635000"/>
          </a:xfrm>
        </p:grpSpPr>
        <p:sp>
          <p:nvSpPr>
            <p:cNvPr id="907" name="Grid column"/>
            <p:cNvSpPr/>
            <p:nvPr/>
          </p:nvSpPr>
          <p:spPr>
            <a:xfrm>
              <a:off x="0" y="0"/>
              <a:ext cx="635000" cy="635000"/>
            </a:xfrm>
            <a:prstGeom prst="rect">
              <a:avLst/>
            </a:prstGeom>
            <a:solidFill>
              <a:srgbClr val="C00000"/>
            </a:solidFill>
          </p:spPr>
        </p:sp>
      </p:grpSp>
      <p:sp>
        <p:nvSpPr>
          <p:cNvPr id="908" name="Label"/>
          <p:cNvSpPr/>
          <p:nvPr/>
        </p:nvSpPr>
        <p:spPr>
          <a:xfrm>
            <a:off x="6350000" y="3810000"/>
            <a:ext cx="1905000" cy="381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n-US"/>
              <a:t>No outline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we are</a:t>
            </a:r>
          </a:p>
          <a:p>
            <a:pPr lvl="1"/>
            <a:r>
              <a:t>The numbers</a:t>
            </a:r>
          </a:p>
          <a:p>
            <a:r>
              <a:rPr b="1">
                <a:solidFill>
                  <a:srgbClr val="C00000"/>
                </a:solidFill>
              </a:rPr>
              <a:t>Next steps</a:t>
            </a:r>
          </a:p>
          <a:p>
            <a:r>
              <a:rPr>
                <a:hlinkClick r:id="rId2"/>
              </a:rPr>
              <a:t>Our 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a table</a:t>
            </a:r>
          </a:p>
        </p:txBody>
      </p:sp>
      <p:sp>
        <p:nvSpPr>
          <p:cNvPr id="3" name="Rounded Rectangle 2"/>
          <p:cNvSpPr/>
          <p:nvPr/>
        </p:nvSpPr>
        <p:spPr>
          <a:xfrm rot="900000">
            <a:off x="457200" y="1645920"/>
            <a:ext cx="2743200" cy="1371600"/>
          </a:xfrm>
          <a:prstGeom prst="roundRect">
            <a:avLst/>
          </a:prstGeom>
          <a:solidFill>
            <a:srgbClr val="0B6E4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657600" y="1828800"/>
            <a:ext cx="18288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مرحبا بكم في الرياض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400800" y="5029200"/>
            <a:ext cx="2286000" cy="914400"/>
            <a:chOff x="6400800" y="5029200"/>
            <a:chExt cx="2286000" cy="914400"/>
          </a:xfrm>
        </p:grpSpPr>
        <p:sp>
          <p:nvSpPr>
            <p:cNvPr id="7" name="Oval 6"/>
            <p:cNvSpPr/>
            <p:nvPr/>
          </p:nvSpPr>
          <p:spPr>
            <a:xfrm>
              <a:off x="6400800" y="5029200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7772400" y="5029200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4592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Riyadh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  <a:tr h="457200">
                <a:tc gridSpan="2">
                  <a:txBody>
                    <a:bodyPr/>
                    <a:lstStyle/>
                    <a:p>
                      <a:r>
                        <a:t>Merged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</p:spPr>
      </p:pic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0" y="914400"/>
          <a:ext cx="4572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launch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